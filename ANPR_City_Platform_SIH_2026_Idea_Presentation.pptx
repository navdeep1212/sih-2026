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9FABC-A700-46D1-8E26-D2D1EC5649F9}" v="2" dt="2026-09-11T04:52:24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deep Chaurasia" userId="3f8c670224f5b425" providerId="LiveId" clId="{48D396B4-9D81-48BC-B466-0FF9112FED6F}"/>
    <pc:docChg chg="undo custSel addSld delSld modSld modMainMaster">
      <pc:chgData name="Navdeep Chaurasia" userId="3f8c670224f5b425" providerId="LiveId" clId="{48D396B4-9D81-48BC-B466-0FF9112FED6F}" dt="2026-09-11T04:52:24.687" v="18"/>
      <pc:docMkLst>
        <pc:docMk/>
      </pc:docMkLst>
      <pc:sldChg chg="addSp delSp modSp del mod">
        <pc:chgData name="Navdeep Chaurasia" userId="3f8c670224f5b425" providerId="LiveId" clId="{48D396B4-9D81-48BC-B466-0FF9112FED6F}" dt="2026-09-11T04:51:18.693" v="17" actId="47"/>
        <pc:sldMkLst>
          <pc:docMk/>
          <pc:sldMk cId="0" sldId="256"/>
        </pc:sldMkLst>
        <pc:spChg chg="add del">
          <ac:chgData name="Navdeep Chaurasia" userId="3f8c670224f5b425" providerId="LiveId" clId="{48D396B4-9D81-48BC-B466-0FF9112FED6F}" dt="2026-09-11T04:50:58.722" v="15" actId="478"/>
          <ac:spMkLst>
            <pc:docMk/>
            <pc:sldMk cId="0" sldId="256"/>
            <ac:spMk id="3" creationId="{6CB72301-9513-F862-88CE-637A3BC46C8F}"/>
          </ac:spMkLst>
        </pc:spChg>
        <pc:spChg chg="del mod">
          <ac:chgData name="Navdeep Chaurasia" userId="3f8c670224f5b425" providerId="LiveId" clId="{48D396B4-9D81-48BC-B466-0FF9112FED6F}" dt="2026-09-10T17:12:35.222" v="11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Navdeep Chaurasia" userId="3f8c670224f5b425" providerId="LiveId" clId="{48D396B4-9D81-48BC-B466-0FF9112FED6F}" dt="2026-09-10T17:12:44.565" v="12" actId="478"/>
          <ac:spMkLst>
            <pc:docMk/>
            <pc:sldMk cId="0" sldId="256"/>
            <ac:spMk id="1033" creationId="{00000000-0000-0000-0000-000000000000}"/>
          </ac:spMkLst>
        </pc:spChg>
        <pc:spChg chg="del">
          <ac:chgData name="Navdeep Chaurasia" userId="3f8c670224f5b425" providerId="LiveId" clId="{48D396B4-9D81-48BC-B466-0FF9112FED6F}" dt="2026-09-10T17:12:47.942" v="13" actId="478"/>
          <ac:spMkLst>
            <pc:docMk/>
            <pc:sldMk cId="0" sldId="256"/>
            <ac:spMk id="1034" creationId="{00000000-0000-0000-0000-000000000000}"/>
          </ac:spMkLst>
        </pc:spChg>
      </pc:sldChg>
      <pc:sldChg chg="modSp">
        <pc:chgData name="Navdeep Chaurasia" userId="3f8c670224f5b425" providerId="LiveId" clId="{48D396B4-9D81-48BC-B466-0FF9112FED6F}" dt="2026-09-11T04:52:24.687" v="18"/>
        <pc:sldMkLst>
          <pc:docMk/>
          <pc:sldMk cId="0" sldId="257"/>
        </pc:sldMkLst>
        <pc:spChg chg="mod">
          <ac:chgData name="Navdeep Chaurasia" userId="3f8c670224f5b425" providerId="LiveId" clId="{48D396B4-9D81-48BC-B466-0FF9112FED6F}" dt="2026-09-11T04:52:24.687" v="18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Navdeep Chaurasia" userId="3f8c670224f5b425" providerId="LiveId" clId="{48D396B4-9D81-48BC-B466-0FF9112FED6F}" dt="2026-09-11T04:52:24.687" v="18"/>
        <pc:sldMkLst>
          <pc:docMk/>
          <pc:sldMk cId="0" sldId="258"/>
        </pc:sldMkLst>
        <pc:spChg chg="mod">
          <ac:chgData name="Navdeep Chaurasia" userId="3f8c670224f5b425" providerId="LiveId" clId="{48D396B4-9D81-48BC-B466-0FF9112FED6F}" dt="2026-09-11T04:52:24.687" v="18"/>
          <ac:spMkLst>
            <pc:docMk/>
            <pc:sldMk cId="0" sldId="258"/>
            <ac:spMk id="7" creationId="{00000000-0000-0000-0000-000000000000}"/>
          </ac:spMkLst>
        </pc:spChg>
        <pc:spChg chg="mod">
          <ac:chgData name="Navdeep Chaurasia" userId="3f8c670224f5b425" providerId="LiveId" clId="{48D396B4-9D81-48BC-B466-0FF9112FED6F}" dt="2026-09-10T16:26:21.585" v="6" actId="1076"/>
          <ac:spMkLst>
            <pc:docMk/>
            <pc:sldMk cId="0" sldId="258"/>
            <ac:spMk id="17410" creationId="{00000000-0000-0000-0000-000000000000}"/>
          </ac:spMkLst>
        </pc:spChg>
      </pc:sldChg>
      <pc:sldChg chg="modSp">
        <pc:chgData name="Navdeep Chaurasia" userId="3f8c670224f5b425" providerId="LiveId" clId="{48D396B4-9D81-48BC-B466-0FF9112FED6F}" dt="2026-09-11T04:52:24.687" v="18"/>
        <pc:sldMkLst>
          <pc:docMk/>
          <pc:sldMk cId="3753387913" sldId="259"/>
        </pc:sldMkLst>
        <pc:spChg chg="mod">
          <ac:chgData name="Navdeep Chaurasia" userId="3f8c670224f5b425" providerId="LiveId" clId="{48D396B4-9D81-48BC-B466-0FF9112FED6F}" dt="2026-09-11T04:52:24.687" v="18"/>
          <ac:spMkLst>
            <pc:docMk/>
            <pc:sldMk cId="3753387913" sldId="259"/>
            <ac:spMk id="7" creationId="{00000000-0000-0000-0000-000000000000}"/>
          </ac:spMkLst>
        </pc:spChg>
      </pc:sldChg>
      <pc:sldChg chg="modSp">
        <pc:chgData name="Navdeep Chaurasia" userId="3f8c670224f5b425" providerId="LiveId" clId="{48D396B4-9D81-48BC-B466-0FF9112FED6F}" dt="2026-09-11T04:52:24.687" v="18"/>
        <pc:sldMkLst>
          <pc:docMk/>
          <pc:sldMk cId="2997144140" sldId="260"/>
        </pc:sldMkLst>
        <pc:spChg chg="mod">
          <ac:chgData name="Navdeep Chaurasia" userId="3f8c670224f5b425" providerId="LiveId" clId="{48D396B4-9D81-48BC-B466-0FF9112FED6F}" dt="2026-09-11T04:52:24.687" v="18"/>
          <ac:spMkLst>
            <pc:docMk/>
            <pc:sldMk cId="2997144140" sldId="260"/>
            <ac:spMk id="7" creationId="{00000000-0000-0000-0000-000000000000}"/>
          </ac:spMkLst>
        </pc:spChg>
      </pc:sldChg>
      <pc:sldChg chg="addSp delSp modSp mod">
        <pc:chgData name="Navdeep Chaurasia" userId="3f8c670224f5b425" providerId="LiveId" clId="{48D396B4-9D81-48BC-B466-0FF9112FED6F}" dt="2026-09-11T04:52:24.687" v="18"/>
        <pc:sldMkLst>
          <pc:docMk/>
          <pc:sldMk cId="3916788613" sldId="261"/>
        </pc:sldMkLst>
        <pc:spChg chg="mod">
          <ac:chgData name="Navdeep Chaurasia" userId="3f8c670224f5b425" providerId="LiveId" clId="{48D396B4-9D81-48BC-B466-0FF9112FED6F}" dt="2026-09-11T04:52:24.687" v="18"/>
          <ac:spMkLst>
            <pc:docMk/>
            <pc:sldMk cId="3916788613" sldId="261"/>
            <ac:spMk id="7" creationId="{00000000-0000-0000-0000-000000000000}"/>
          </ac:spMkLst>
        </pc:spChg>
      </pc:sldChg>
      <pc:sldChg chg="add">
        <pc:chgData name="Navdeep Chaurasia" userId="3f8c670224f5b425" providerId="LiveId" clId="{48D396B4-9D81-48BC-B466-0FF9112FED6F}" dt="2026-09-11T04:51:15.108" v="16"/>
        <pc:sldMkLst>
          <pc:docMk/>
          <pc:sldMk cId="0" sldId="291"/>
        </pc:sldMkLst>
      </pc:sldChg>
      <pc:sldMasterChg chg="modSp modSldLayout">
        <pc:chgData name="Navdeep Chaurasia" userId="3f8c670224f5b425" providerId="LiveId" clId="{48D396B4-9D81-48BC-B466-0FF9112FED6F}" dt="2026-09-11T04:52:24.687" v="18"/>
        <pc:sldMasterMkLst>
          <pc:docMk/>
          <pc:sldMasterMk cId="0" sldId="2147483648"/>
        </pc:sldMasterMkLst>
        <pc:spChg chg="mod">
          <ac:chgData name="Navdeep Chaurasia" userId="3f8c670224f5b425" providerId="LiveId" clId="{48D396B4-9D81-48BC-B466-0FF9112FED6F}" dt="2026-09-11T04:52:24.687" v="18"/>
          <ac:spMkLst>
            <pc:docMk/>
            <pc:sldMasterMk cId="0" sldId="2147483648"/>
            <ac:spMk id="5" creationId="{00000000-0000-0000-0000-000000000000}"/>
          </ac:spMkLst>
        </pc:sp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49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0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1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2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3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4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5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6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7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8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">
          <pc:chgData name="Navdeep Chaurasia" userId="3f8c670224f5b425" providerId="LiveId" clId="{48D396B4-9D81-48BC-B466-0FF9112FED6F}" dt="2026-09-11T04:52:24.687" v="18"/>
          <pc:sldLayoutMkLst>
            <pc:docMk/>
            <pc:sldMasterMk cId="0" sldId="2147483648"/>
            <pc:sldLayoutMk cId="0" sldId="2147483659"/>
          </pc:sldLayoutMkLst>
          <pc:spChg chg="mod">
            <ac:chgData name="Navdeep Chaurasia" userId="3f8c670224f5b425" providerId="LiveId" clId="{48D396B4-9D81-48BC-B466-0FF9112FED6F}" dt="2026-09-11T04:52:24.687" v="18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Heavy Coders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49341" y="190278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581773"/>
            <a:ext cx="8587873" cy="963862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solidFill>
                <a:schemeClr val="tx1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58023" y="-5389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/>
                <a:ea typeface="ＭＳ Ｐゴシック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8023" y="1542975"/>
            <a:ext cx="6050416" cy="45827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Problem Statement ID – </a:t>
            </a:r>
            <a:r>
              <a:rPr lang="en-US" sz="2000" b="1" dirty="0">
                <a:solidFill>
                  <a:schemeClr val="tx2">
                    <a:lumMod val="76000"/>
                  </a:schemeClr>
                </a:solidFill>
                <a:latin typeface="Arial"/>
                <a:ea typeface="ＭＳ Ｐゴシック"/>
                <a:cs typeface="Arial"/>
              </a:rPr>
              <a:t>26127</a:t>
            </a:r>
            <a:endParaRPr lang="en-US" sz="2000" b="1" dirty="0">
              <a:solidFill>
                <a:schemeClr val="tx2">
                  <a:lumMod val="76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Problem Statement Title – </a:t>
            </a:r>
            <a:r>
              <a:rPr lang="en-US" sz="2000" b="1" dirty="0">
                <a:solidFill>
                  <a:schemeClr val="tx2">
                    <a:lumMod val="76000"/>
                  </a:schemeClr>
                </a:solidFill>
                <a:latin typeface="Arial"/>
                <a:ea typeface="ＭＳ Ｐゴシック"/>
                <a:cs typeface="Arial"/>
              </a:rPr>
              <a:t>City-Wide AI Engine for Multi-Camera ANRP Trajectory Tracking &amp; Urban Traffic Analytics</a:t>
            </a:r>
            <a:endParaRPr lang="en-US" sz="2000" b="1" dirty="0">
              <a:solidFill>
                <a:schemeClr val="tx2">
                  <a:lumMod val="76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Theme – </a:t>
            </a:r>
            <a:r>
              <a:rPr lang="en-US" sz="2000" b="1" dirty="0">
                <a:solidFill>
                  <a:schemeClr val="tx2">
                    <a:lumMod val="76000"/>
                  </a:schemeClr>
                </a:solidFill>
                <a:latin typeface="Arial"/>
                <a:ea typeface="ＭＳ Ｐゴシック"/>
                <a:cs typeface="Arial"/>
              </a:rPr>
              <a:t>Transportation &amp; Logistics</a:t>
            </a:r>
            <a:endParaRPr lang="en-US" sz="2000" b="1" dirty="0">
              <a:solidFill>
                <a:schemeClr val="tx2">
                  <a:lumMod val="76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PS Category – </a:t>
            </a:r>
            <a:r>
              <a:rPr lang="en-US" sz="2000" b="1" dirty="0">
                <a:solidFill>
                  <a:schemeClr val="tx2">
                    <a:lumMod val="76000"/>
                  </a:schemeClr>
                </a:solidFill>
                <a:latin typeface="Arial"/>
                <a:ea typeface="ＭＳ Ｐゴシック"/>
                <a:cs typeface="Arial"/>
              </a:rPr>
              <a:t>Software</a:t>
            </a:r>
            <a:endParaRPr lang="en-US" sz="2000" b="1" dirty="0">
              <a:solidFill>
                <a:schemeClr val="tx2">
                  <a:lumMod val="76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Team Name – </a:t>
            </a:r>
            <a:r>
              <a:rPr lang="en-US" sz="2000" b="1" dirty="0">
                <a:solidFill>
                  <a:schemeClr val="tx2">
                    <a:lumMod val="76000"/>
                  </a:schemeClr>
                </a:solidFill>
                <a:latin typeface="Arial"/>
                <a:ea typeface="ＭＳ Ｐゴシック"/>
                <a:cs typeface="Arial"/>
              </a:rPr>
              <a:t>Heavy Coders</a:t>
            </a:r>
            <a:endParaRPr lang="en-IN" sz="2000" b="1" dirty="0">
              <a:solidFill>
                <a:schemeClr val="tx2">
                  <a:lumMod val="76000"/>
                </a:schemeClr>
              </a:solidFill>
              <a:latin typeface="Arial"/>
              <a:ea typeface="ＭＳ Ｐゴシック"/>
              <a:cs typeface="Arial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500" b="1">
                <a:solidFill>
                  <a:srgbClr val="16375C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Heavy Coders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375C"/>
                </a:solidFill>
                <a:latin typeface="Aptos"/>
              </a:defRPr>
            </a:pPr>
            <a:r>
              <a:t>ANPR CITY PLATFORM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TextBox 15362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6375C"/>
                </a:solidFill>
                <a:latin typeface="Aptos"/>
              </a:defRPr>
            </a:pPr>
            <a:r>
              <a:t>A centralized ANPR platform that converts camera/video feeds into searchable vehicle intelligence.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20574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Rectangle 15364"/>
          <p:cNvSpPr/>
          <p:nvPr/>
        </p:nvSpPr>
        <p:spPr>
          <a:xfrm>
            <a:off x="594360" y="2057400"/>
            <a:ext cx="73152" cy="123444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TextBox 15365"/>
          <p:cNvSpPr txBox="1"/>
          <p:nvPr/>
        </p:nvSpPr>
        <p:spPr>
          <a:xfrm>
            <a:off x="758952" y="2167128"/>
            <a:ext cx="31546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1. DETECT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758952" y="2532888"/>
            <a:ext cx="315468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YOLOv8 detects license plates from traffic footage.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251960" y="20574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ectangle 15368"/>
          <p:cNvSpPr/>
          <p:nvPr/>
        </p:nvSpPr>
        <p:spPr>
          <a:xfrm>
            <a:off x="4251960" y="2057400"/>
            <a:ext cx="73152" cy="1234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4416552" y="2167128"/>
            <a:ext cx="31546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2. READ + TRACK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4416552" y="2532888"/>
            <a:ext cx="315468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ByteTrack maintains vehicle tracks; EasyOCR reads plates across multiple frames.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7909560" y="20574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Rectangle 15372"/>
          <p:cNvSpPr/>
          <p:nvPr/>
        </p:nvSpPr>
        <p:spPr>
          <a:xfrm>
            <a:off x="7909560" y="2057400"/>
            <a:ext cx="73152" cy="123444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TextBox 15373"/>
          <p:cNvSpPr txBox="1"/>
          <p:nvPr/>
        </p:nvSpPr>
        <p:spPr>
          <a:xfrm>
            <a:off x="8074152" y="2167128"/>
            <a:ext cx="31546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3. DECIDE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8074152" y="2532888"/>
            <a:ext cx="315468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Format validation selects reliable readings and reduces duplicate events.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94360" y="361188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Rectangle 15376"/>
          <p:cNvSpPr/>
          <p:nvPr/>
        </p:nvSpPr>
        <p:spPr>
          <a:xfrm>
            <a:off x="594360" y="3611880"/>
            <a:ext cx="73152" cy="1234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TextBox 15377"/>
          <p:cNvSpPr txBox="1"/>
          <p:nvPr/>
        </p:nvSpPr>
        <p:spPr>
          <a:xfrm>
            <a:off x="758952" y="3721608"/>
            <a:ext cx="31546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4. CENTRALIZE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58952" y="4087368"/>
            <a:ext cx="315468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Node.js + MongoDB stores camera and detection history.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4251960" y="361188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Rectangle 15380"/>
          <p:cNvSpPr/>
          <p:nvPr/>
        </p:nvSpPr>
        <p:spPr>
          <a:xfrm>
            <a:off x="4251960" y="3611880"/>
            <a:ext cx="73152" cy="123444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2" name="TextBox 15381"/>
          <p:cNvSpPr txBox="1"/>
          <p:nvPr/>
        </p:nvSpPr>
        <p:spPr>
          <a:xfrm>
            <a:off x="4416552" y="3721608"/>
            <a:ext cx="31546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5. CONNECT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416552" y="4087368"/>
            <a:ext cx="315468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Cross-camera history enables trajectory and time-of-travel analysis.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7909560" y="361188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5" name="Rectangle 15384"/>
          <p:cNvSpPr/>
          <p:nvPr/>
        </p:nvSpPr>
        <p:spPr>
          <a:xfrm>
            <a:off x="7909560" y="3611880"/>
            <a:ext cx="73152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6" name="TextBox 15385"/>
          <p:cNvSpPr txBox="1"/>
          <p:nvPr/>
        </p:nvSpPr>
        <p:spPr>
          <a:xfrm>
            <a:off x="8074152" y="3721608"/>
            <a:ext cx="31546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6. ALERT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8074152" y="4087368"/>
            <a:ext cx="315468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Socket.io pushes blacklist matches to operators in real time.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94360" y="516636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WHY IT IS DIFFERENT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85800" y="5504688"/>
            <a:ext cx="1078992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Unifies previously isolated camera observations into one searchable vehicle history.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Uses multi-frame evidence instead of trusting a single OCR frame.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Designed for practical deployment: existing cameras + software pipeline + centralized dashboard.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9966960" y="6473952"/>
            <a:ext cx="1463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A6978"/>
                </a:solidFill>
                <a:latin typeface="Aptos"/>
              </a:defRPr>
            </a:pPr>
            <a:r>
              <a:t>ANPR CITY PLATFORM  |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500" b="1">
                <a:solidFill>
                  <a:srgbClr val="16375C"/>
                </a:solidFill>
                <a:latin typeface="Aptos"/>
              </a:defRPr>
            </a:pPr>
            <a:r>
              <a:rPr dirty="0"/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Heavy Coders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375C"/>
                </a:solidFill>
                <a:latin typeface="Aptos"/>
              </a:defRPr>
            </a:pPr>
            <a:r>
              <a:t>ANPR CITY PLATFORM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02920" y="196596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502920" y="1965960"/>
            <a:ext cx="73152" cy="96012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67512" y="2075688"/>
            <a:ext cx="12344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CAMERAS / VIDEO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67512" y="2441448"/>
            <a:ext cx="1234439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1965960" y="2304288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5A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130552" y="196596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ectangle 17416"/>
          <p:cNvSpPr/>
          <p:nvPr/>
        </p:nvSpPr>
        <p:spPr>
          <a:xfrm>
            <a:off x="2130552" y="1965960"/>
            <a:ext cx="73152" cy="960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295144" y="2075688"/>
            <a:ext cx="12344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YOLOv8n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295144" y="2441448"/>
            <a:ext cx="1234439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PLATE DETECTION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593592" y="2304288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5A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758184" y="196596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ectangle 17421"/>
          <p:cNvSpPr/>
          <p:nvPr/>
        </p:nvSpPr>
        <p:spPr>
          <a:xfrm>
            <a:off x="3758184" y="1965960"/>
            <a:ext cx="73152" cy="96012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3922776" y="2075688"/>
            <a:ext cx="12344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BYTETrack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922776" y="2441448"/>
            <a:ext cx="1234439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VEHICLE TRACKING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221224" y="2304288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5A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385816" y="196596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ectangle 17426"/>
          <p:cNvSpPr/>
          <p:nvPr/>
        </p:nvSpPr>
        <p:spPr>
          <a:xfrm>
            <a:off x="5385816" y="1965960"/>
            <a:ext cx="73152" cy="960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5550408" y="2075688"/>
            <a:ext cx="12344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EasyOCR +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550408" y="2441448"/>
            <a:ext cx="1234439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VALIDATION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848856" y="2304288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5A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013448" y="196596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Rectangle 17431"/>
          <p:cNvSpPr/>
          <p:nvPr/>
        </p:nvSpPr>
        <p:spPr>
          <a:xfrm>
            <a:off x="7013448" y="1965960"/>
            <a:ext cx="73152" cy="96012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7178040" y="2075688"/>
            <a:ext cx="12344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FASTAPI ML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178040" y="2441448"/>
            <a:ext cx="1234439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476488" y="2304288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5A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641080" y="196596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ectangle 17436"/>
          <p:cNvSpPr/>
          <p:nvPr/>
        </p:nvSpPr>
        <p:spPr>
          <a:xfrm>
            <a:off x="8641080" y="1965960"/>
            <a:ext cx="73152" cy="960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8805672" y="2075688"/>
            <a:ext cx="12344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NODE +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805672" y="2441448"/>
            <a:ext cx="1234439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0104120" y="2304288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5A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10268712" y="1965960"/>
            <a:ext cx="1508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ectangle 17441"/>
          <p:cNvSpPr/>
          <p:nvPr/>
        </p:nvSpPr>
        <p:spPr>
          <a:xfrm>
            <a:off x="10268712" y="1965960"/>
            <a:ext cx="73152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TextBox 17442"/>
          <p:cNvSpPr txBox="1"/>
          <p:nvPr/>
        </p:nvSpPr>
        <p:spPr>
          <a:xfrm>
            <a:off x="10433304" y="2075688"/>
            <a:ext cx="12344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DASHBOARD +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0433304" y="2441448"/>
            <a:ext cx="1234439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ALERTS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94360" y="324612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CORE ENGINEERING DECISIONS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85800" y="3611880"/>
            <a:ext cx="5394960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YOLOv8n trained on manually annotated license-plate images.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ByteTrack + 15-frame grace period prevents duplicate vehicle events.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Multiple OCR readings are aggregated; format-valid readings receive priority.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Prototype validated on 36-image validation set; final training metrics: mAP50 ≈ 0.992.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172200" y="3611880"/>
            <a:ext cx="5212080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FastAPI exposes /process-video for reusable ML inference.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Express backend bridges uploads, ML results and MongoDB.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Socket.io delivers blacklist alerts to the dashboard.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Leaflet + dark GIS map visualizes camera locations and vehicle trajectories.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Aptos"/>
              </a:defRPr>
            </a:pPr>
            <a:r>
              <a:t>Prototype status: video → detection → tracking → OCR → validation → API → MongoDB → alert has been integrated and tested.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9966960" y="6473952"/>
            <a:ext cx="1463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A6978"/>
                </a:solidFill>
                <a:latin typeface="Aptos"/>
              </a:defRPr>
            </a:pPr>
            <a:r>
              <a:t>ANPR CITY PLATFORM  |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500" b="1">
                <a:solidFill>
                  <a:srgbClr val="16375C"/>
                </a:solidFill>
                <a:latin typeface="Aptos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Heavy Coders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375C"/>
                </a:solidFill>
                <a:latin typeface="Aptos"/>
              </a:defRPr>
            </a:pPr>
            <a:r>
              <a:t>ANPR CITY PLATFORM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94360" y="160020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594360" y="1600200"/>
            <a:ext cx="73152" cy="132588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758952" y="170992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TECHNICAL 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2075688"/>
            <a:ext cx="320040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t>Uses established computer-vision components and lightweight services. Existing CCTV/video sources can feed the pipeline.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43400" y="160020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4343400" y="1600200"/>
            <a:ext cx="73152" cy="1325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507992" y="170992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ECONOMIC FEASIBILITY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07992" y="2075688"/>
            <a:ext cx="320040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Software-first architecture reduces dependence on specialized hardware. Can run on edge GPU or centralized GPU as scale grows.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92440" y="160020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ectangle 17419"/>
          <p:cNvSpPr/>
          <p:nvPr/>
        </p:nvSpPr>
        <p:spPr>
          <a:xfrm>
            <a:off x="8092440" y="1600200"/>
            <a:ext cx="73152" cy="132588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8257031" y="170992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OPERATIONAL FEASIBILITY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257031" y="2075688"/>
            <a:ext cx="320040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Camera metadata, searchable history, alerts and map views fit a traffic-control workflow.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94360" y="324612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KEY CHALLENGES → MITIGATION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85800" y="3611880"/>
            <a:ext cx="5349240" cy="2240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dirty="0"/>
              <a:t>Low-resolution / angled plates → multi-frame evidence and validation.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dirty="0"/>
              <a:t>OCR mistakes → aggregate readings across a tracked vehicle instead of accepting one frame.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dirty="0"/>
              <a:t>Duplicate detections → </a:t>
            </a:r>
            <a:r>
              <a:rPr dirty="0" err="1"/>
              <a:t>ByteTrack</a:t>
            </a:r>
            <a:r>
              <a:rPr dirty="0"/>
              <a:t> persistence + dropout grace period.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dirty="0"/>
              <a:t>CPU latency → asynchronous/background processing can be added for scaled deployments.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172200" y="3611880"/>
            <a:ext cx="5212080" cy="2240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dirty="0"/>
              <a:t>False alerts → blacklist is treated as an alert signal, not proof of guilt; operator verification remains possible.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dirty="0"/>
              <a:t>Camera failure → camera status monitoring and inactive/simulated states.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dirty="0"/>
              <a:t>Cross-camera ambiguity → use plate history, timestamps and camera coordinates together.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dirty="0"/>
              <a:t>Privacy/security → role-based access, audit logs, retention controls and encryption should be added before production deployment.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94360" y="608076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Aptos"/>
              </a:defRPr>
            </a:pPr>
            <a:r>
              <a:t>Scalability path: prototype → GPU/edge inference → queued processing → multiple camera workers → city-wide deployment.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966960" y="6473952"/>
            <a:ext cx="1463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A6978"/>
                </a:solidFill>
                <a:latin typeface="Aptos"/>
              </a:defRPr>
            </a:pPr>
            <a:r>
              <a:t>ANPR CITY PLATFORM  |  4/6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500" b="1">
                <a:solidFill>
                  <a:srgbClr val="16375C"/>
                </a:solidFill>
                <a:latin typeface="Aptos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Heavy Coders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375C"/>
                </a:solidFill>
                <a:latin typeface="Aptos"/>
              </a:defRPr>
            </a:pPr>
            <a:r>
              <a:t>ANPR CITY PLATFORM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94360" y="150876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594360" y="1508760"/>
            <a:ext cx="73152" cy="137160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758952" y="161848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FASTER INVESTIGATION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1984248"/>
            <a:ext cx="3200400" cy="8046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Search a plate and reconstruct where and when it was observed instead of reviewing camera footage manually.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43400" y="150876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4343400" y="1508760"/>
            <a:ext cx="73152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507992" y="161848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EARLY ALERTING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07992" y="1984248"/>
            <a:ext cx="3200400" cy="8046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Blacklist matches can reach operators immediately through the real-time alert channel.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92440" y="150876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ectangle 17419"/>
          <p:cNvSpPr/>
          <p:nvPr/>
        </p:nvSpPr>
        <p:spPr>
          <a:xfrm>
            <a:off x="8092440" y="1508760"/>
            <a:ext cx="73152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8257031" y="161848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CITY-WIDE VISIBILITY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257031" y="1984248"/>
            <a:ext cx="3200400" cy="8046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A shared data layer connects observations from multiple cameras.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94360" y="315468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ectangle 17423"/>
          <p:cNvSpPr/>
          <p:nvPr/>
        </p:nvSpPr>
        <p:spPr>
          <a:xfrm>
            <a:off x="594360" y="3154680"/>
            <a:ext cx="73152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758952" y="326440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TRAFFIC INTELLIGENCE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58952" y="3630168"/>
            <a:ext cx="3200400" cy="8046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Per-camera counts and density views help identify high-activity locations and time periods.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343400" y="315468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ectangle 17427"/>
          <p:cNvSpPr/>
          <p:nvPr/>
        </p:nvSpPr>
        <p:spPr>
          <a:xfrm>
            <a:off x="4343400" y="3154680"/>
            <a:ext cx="73152" cy="137160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4507992" y="326440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RESOURCE EFFICIENCY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507992" y="3630168"/>
            <a:ext cx="3200400" cy="8046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Automates repetitive plate-reading work and lets personnel focus on verification and response.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092440" y="315468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Rectangle 17431"/>
          <p:cNvSpPr/>
          <p:nvPr/>
        </p:nvSpPr>
        <p:spPr>
          <a:xfrm>
            <a:off x="8092440" y="3154680"/>
            <a:ext cx="73152" cy="1371600"/>
          </a:xfrm>
          <a:prstGeom prst="rect">
            <a:avLst/>
          </a:prstGeom>
          <a:solidFill>
            <a:srgbClr val="2BB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8257031" y="3264408"/>
            <a:ext cx="3200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EXTENSIBLE PLATFORM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257031" y="3630168"/>
            <a:ext cx="3200400" cy="8046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The same event architecture can support stolen vehicles, traffic violations and other authorized watchlists.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85800" y="525780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232D37"/>
                </a:solidFill>
                <a:latin typeface="Aptos"/>
              </a:defRPr>
            </a:pPr>
            <a:r>
              <a:t>Traffic Police  •  City Command Centers  •  Municipal Traffic Operations  •  Authorized Investigative Teams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0070C0"/>
                </a:solidFill>
                <a:latin typeface="Aptos"/>
              </a:defRPr>
            </a:pPr>
            <a:r>
              <a:t>Outcome: turn raw camera footage into structured, searchable and actionable traffic intelligence.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966960" y="6473952"/>
            <a:ext cx="1463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A6978"/>
                </a:solidFill>
                <a:latin typeface="Aptos"/>
              </a:defRPr>
            </a:pPr>
            <a:r>
              <a:t>ANPR CITY PLATFORM  |  5/6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Heavy Coders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375C"/>
                </a:solidFill>
                <a:latin typeface="Aptos"/>
              </a:defRPr>
            </a:pPr>
            <a:r>
              <a:t>ANPR CITY PLATFORM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94360" y="141732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6375C"/>
                </a:solidFill>
                <a:latin typeface="Aptos"/>
              </a:defRPr>
            </a:pPr>
            <a:r>
              <a:rPr dirty="0"/>
              <a:t>RESEARCH BASIS &amp; TECHNICAL REFERENCES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874519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Aptos"/>
              </a:defRPr>
            </a:pPr>
            <a:r>
              <a:rPr dirty="0" err="1"/>
              <a:t>Ultralytics</a:t>
            </a:r>
            <a:r>
              <a:rPr dirty="0"/>
              <a:t> YOLO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0" y="1874519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t>Object detection framework used for license-plate detection and model training.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2441448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Aptos"/>
              </a:defRPr>
            </a:pPr>
            <a:r>
              <a:t>EasyOCR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743200" y="2441448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t>OCR engine evaluated and integrated for plate-text recognition.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3008376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Aptos"/>
              </a:defRPr>
            </a:pPr>
            <a:r>
              <a:t>ByteTrack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743200" y="3008376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t>Multi-object tracking approach used to maintain vehicle tracks across video frames.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575304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Aptos"/>
              </a:defRPr>
            </a:pPr>
            <a:r>
              <a:t>FastAPI + Uvicorn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743200" y="3575304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rPr dirty="0"/>
              <a:t>Reusable Python inference API for video processing.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31520" y="4142232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Aptos"/>
              </a:defRPr>
            </a:pPr>
            <a:r>
              <a:t>Node.js + Express + Socket.io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743200" y="4142232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t>Backend integration, event delivery and application API layer.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31520" y="4709160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743200" y="4709160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rPr dirty="0"/>
              <a:t>Cloud database for camera metadata, detection events and searchable vehicle history.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31520" y="5276088"/>
            <a:ext cx="21945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Aptos"/>
              </a:defRPr>
            </a:pPr>
            <a:r>
              <a:t>Leaflet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743200" y="5276088"/>
            <a:ext cx="84124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t>Map visualization for camera locations and cross-camera trajectories.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94360" y="598932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50" b="1">
                <a:solidFill>
                  <a:srgbClr val="16375C"/>
                </a:solidFill>
                <a:latin typeface="Aptos"/>
              </a:defRPr>
            </a:pPr>
            <a:r>
              <a:t>Prototype evidence: trained detector, video inference pipeline, API integration, MongoDB persistence and Socket.io blacklist alert have been tested end-to-end.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966960" y="6473952"/>
            <a:ext cx="1463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A6978"/>
                </a:solidFill>
                <a:latin typeface="Aptos"/>
              </a:defRPr>
            </a:pPr>
            <a:r>
              <a:t>ANPR CITY PLATFORM  |  6/6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833</Words>
  <Application>Microsoft Office PowerPoint</Application>
  <PresentationFormat>Widescreen</PresentationFormat>
  <Paragraphs>130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PROPOSED SOLUTION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Navdeep Chaurasia</cp:lastModifiedBy>
  <cp:revision>1</cp:revision>
  <dcterms:modified xsi:type="dcterms:W3CDTF">2026-09-11T04:52:33Z</dcterms:modified>
</cp:coreProperties>
</file>